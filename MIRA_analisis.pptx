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1435" autoAdjust="0"/>
  </p:normalViewPr>
  <p:slideViewPr>
    <p:cSldViewPr snapToGrid="0" snapToObjects="1">
      <p:cViewPr varScale="1">
        <p:scale>
          <a:sx n="48" d="100"/>
          <a:sy n="48" d="100"/>
        </p:scale>
        <p:origin x="53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8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DANTE</a:t>
            </a:r>
            <a:endParaRPr lang="es-CL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cuanto al alcance del análisis: cubrimos el ciclo completo del caso. Esto abarca desde el ingreso de documentos e imágenes, el cálculo de puntajes y reglas, hasta la revisión humana asistida y su trazabilidad. </a:t>
            </a:r>
          </a:p>
          <a:p>
            <a:endParaRPr lang="es-C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Quedan explícitamente fuera de nuestro análisis las modalidades de video y audio, la aplicación móvil y la facturación electrónica.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FELIPE O FRANKO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FELIPE O FRANKO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FELIPE O FRANKO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FELIPE O FRANKO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FELIPE O FRANKO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NIKO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FELIPE O FRANKO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FELIPE O FRANKO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DANTE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132C4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132C4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73152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40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DESARROLLO DE SOFTWARE CONDUCIDO POR AGENTES DE IA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288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MIRA: de demo a producto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requisitos para una plataforma que convierte evidencia</a:t>
            </a:r>
            <a:endParaRPr lang="en-US" sz="16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 decisiones de negocio, con apoyo de IA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73152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736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Dante Chávez   ·   Nikolas Lagos   ·   Franko Moraga   ·   Felipe Caru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120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piloto representado por: Nikolas Lagos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DPRIME SpA  ·  Documento de necesidades v1.4 + 9 entrevistas de levantamiento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ALCANCE DEL ANÁLISIS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MIRA y por qué importa?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AF2F4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revisan a mano documentos, fotos y videos para decidir cosas como aprobar un reembolso médico.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lento, y cuando alguien pregunta “¿por qué se decidió esto?”, la respuesta la da un ingeniero mirando registros, horas después.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digital también es cada vez más fácil de falsificar.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519672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51967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MIRA debe ser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651760"/>
            <a:ext cx="4846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que lee esa evidencia, propone una decisión y explica en qué se basó.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 cliente pueda operar solo, sin un ingeniero de DPRIME sosteniendo cada caso.</a:t>
            </a:r>
            <a:endParaRPr lang="en-US" sz="14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cada decisión se pueda defender después, ante un auditor o un regulador.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ALCANCE DEL ANÁLISIS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cubre esta entrega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Incluido en este análisis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6309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 un caso (API o carpeta compartida) y su evidencia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documentos e imágenes, y el puntaje de confianza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y umbrales que traducen ese puntaje en una decisión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revisión de una persona cuando la máquina no está segura</a:t>
            </a:r>
            <a:endParaRPr lang="en-US" sz="14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completo de qué pasó con cada caso (trazabilidad)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680960" y="1691640"/>
            <a:ext cx="3959352" cy="4160520"/>
          </a:xfrm>
          <a:prstGeom prst="roundRect">
            <a:avLst>
              <a:gd name="adj" fmla="val 1848"/>
            </a:avLst>
          </a:prstGeom>
          <a:solidFill>
            <a:srgbClr val="EAF2F4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7955280" y="1965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más adelante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4688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y audio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para que el asegurado suba evidencia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electrónica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documento de necesidades de DPRIME (v1.4) y 9 entrevistas de levantamiento realizadas entre el 15 de junio y el 30 de julio de 2026.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DE ANÁLISIS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hizo el análisis: 7 artefactos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749808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3288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Inconsistencias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9008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contradicciones había entre el documento y las entrevistas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78308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566160" y="1984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356616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3288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9008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hacer el sistema, y qué no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78308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382512" y="1984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382512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53288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dominio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99008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del negocio, en su propio lenguaje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97696" y="1783080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9198864" y="19842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9198864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253288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98864" y="299008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 la plataforma, paso a paso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59352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749808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74980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7091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1663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construye primero y por qué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64992" y="3959352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356616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35661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47091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51663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comprobamos que cada cosa funciona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1344" y="3959352"/>
            <a:ext cx="267004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6382512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6382512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382512" y="470916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secuencia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382512" y="51663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conversan las partes del sistema entre sí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siguientes diapositivas profundizan en el modelo de dominio, los casos de uso y los requisitos.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DE ANÁLISIS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dominio: el lenguaje del negocio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diseñar pantallas, se definieron los conceptos que usa el propio negocio para hablar de su trabajo — sin mezclarlos con términos técnicos de base de datos.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EAF2F4"/>
          </a:solidFill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713232" y="28712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255264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(una aseguradora), con sus datos aislados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274320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EAF2F4"/>
          </a:solidFill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3529584" y="28712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3255264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hecho a resolver, ej. un reembolso médico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4" y="274320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EAF2F4"/>
          </a:solidFill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6345936" y="28712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3255264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que llegan sobre ese caso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97696" y="274320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EAF2F4"/>
          </a:solidFill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162288" y="2871216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162288" y="3255264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capacidad de análisis, ej. leer un documento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61688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EAF2F4"/>
          </a:solidFill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713232" y="448970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873752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un módulo encontró en la evidencia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4361688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EAF2F4"/>
          </a:solidFill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3529584" y="448970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Umbral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529584" y="4873752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que gatilla una decisión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1344" y="4361688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EAF2F4"/>
          </a:solidFill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6345936" y="448970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345936" y="4873752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de pasos que define un cliente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97696" y="4361688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EAF2F4"/>
          </a:solidFill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9162288" y="4489704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162288" y="4873752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que revisa un caso derivado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una Señal es lo que un Módulo encuentra en una Evidencia — por ejemplo, “la fecha del comprobante no coincide con la foto”.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DE ANÁLISIS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casos de uso más críticos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84448" cy="36576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CU-01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Ingresar un caso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30358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o una persona sube la evidencia de un caso. MIRA le asigna un número único y comprueba que los archivos se puedan leer.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8536" y="1783080"/>
            <a:ext cx="3584448" cy="36576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562856" y="205740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4562856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CU-02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62856" y="269748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con ayuda humana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3474720"/>
            <a:ext cx="30358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máquina no está segura, una persona ve toda la evidencia y la razón de la derivación en una sola pantalla, y decide.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28432" y="1783080"/>
            <a:ext cx="3584448" cy="36576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02752" y="205740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8302752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CU-03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697480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el flujo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3474720"/>
            <a:ext cx="30358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arma sus propias reglas y umbrales de decisión, sin necesitar a un programador.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estos 3? Porque un error de diseño en cualquiera de ellos obliga a rehacer la arquitectura completa.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 DE ANÁLISIS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Requisitos: qué debe hacer, y qué 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2296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0592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la evidencia y calcular un puntaje de confianza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a una persona cuando el puntaje no alcanza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rechazar un caso de forma 100% automática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519672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funcionales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450592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rápido: confirmar recepción en menos de 1 segundo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los datos y cumplir dónde deben vivir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disponible casi siempre (99,9% al mes)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83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requisito se priorizó y se dejó trazado a su fuente exacta: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685800" y="5349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 </a:t>
            </a: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imprescindible para enero 2027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64992" y="534924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3502152" y="5349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 </a:t>
            </a: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 valor, puede esperar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534924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318504" y="5349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 </a:t>
            </a: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deseable, para abril 2027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97696" y="5349240"/>
            <a:ext cx="2670048" cy="566928"/>
          </a:xfrm>
          <a:prstGeom prst="roundRect">
            <a:avLst>
              <a:gd name="adj" fmla="val 12903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9134856" y="5349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 </a:t>
            </a: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fuera de esta etapa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CALIDAD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Pruebas: cómo comprobamos que funciona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funcionales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32304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s-CL" sz="1600" b="1" dirty="0"/>
              <a:t>Prevención de rechazo automático (PF-07):</a:t>
            </a:r>
            <a:r>
              <a:rPr lang="es-CL" sz="1600" dirty="0"/>
              <a:t> Verifica que ningún caso con puntaje bajo se rechace solo; siempre se deriva a revisión humana para cumplir con la ley de protección de datos. </a:t>
            </a:r>
          </a:p>
          <a:p>
            <a:pPr lvl="0"/>
            <a:r>
              <a:rPr lang="es-CL" sz="1600" b="1" dirty="0"/>
              <a:t>Aprobación automática exitosa (PF-05):</a:t>
            </a:r>
            <a:r>
              <a:rPr lang="es-CL" sz="1600" dirty="0"/>
              <a:t> Confirma que los casos sobre el umbral y sin alertas de fraude se aprueben de inmediato, validando el valor central de automatización de la plataforma. </a:t>
            </a:r>
          </a:p>
        </p:txBody>
      </p:sp>
      <p:sp>
        <p:nvSpPr>
          <p:cNvPr id="7" name="Shape 5"/>
          <p:cNvSpPr/>
          <p:nvPr/>
        </p:nvSpPr>
        <p:spPr>
          <a:xfrm>
            <a:off x="6245352" y="173736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519672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extra-funcionales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450592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s-CL" sz="1400" b="1" dirty="0"/>
              <a:t>Soberanía de datos (PX-03):</a:t>
            </a:r>
            <a:r>
              <a:rPr lang="es-CL" sz="1400" dirty="0"/>
              <a:t> Asegura el enmascaramiento de datos, garantizando que no salgan RUTs ni nombres reales hacia los servidores de IA en el extranjero. </a:t>
            </a:r>
          </a:p>
          <a:p>
            <a:pPr lvl="0"/>
            <a:r>
              <a:rPr lang="es-CL" sz="1400" b="1" dirty="0"/>
              <a:t>Resiliencia ante caídas (PX-06):</a:t>
            </a:r>
            <a:r>
              <a:rPr lang="es-CL" sz="1400" dirty="0"/>
              <a:t> Verifica que si el proveedor de IA externa se cae, los casos se encolen de forma segura sin perder la información del asegurado. 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868680" y="4928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encontramos al revisar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1846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primera versión de las pruebas solo cubría “todo sale bien”. Al preguntar puntualmente si los casos de error estaban cubiertos, aparecieron 2 pruebas que faltaban.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CALIDAD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Backlog: qué se construye primero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lista de historias de usuario (“como... quiero... para...”), ordenadas por valor de negocio y riesgo — no por lo fácil que sea programarlas.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" y="2542032"/>
            <a:ext cx="11091672" cy="4006814"/>
          </a:xfrm>
          <a:prstGeom prst="roundRect">
            <a:avLst>
              <a:gd name="adj" fmla="val 5161"/>
            </a:avLst>
          </a:prstGeom>
          <a:solidFill>
            <a:srgbClr val="EAF2F4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historia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D71A71E4-53D7-48D0-D162-52E23B1ED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45" y="2971800"/>
            <a:ext cx="5188555" cy="3086531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5A144FA1-C779-AEC2-0257-E369829D9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3167790"/>
            <a:ext cx="5404015" cy="2638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PROMPTING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le hablamos a la IA (1 de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84448" cy="393192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Anclaje en fuentes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53440" y="3110702"/>
            <a:ext cx="3191256" cy="1368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200"/>
              <a:t>"actua como ingeniero de requisitos. extrae los requisitos funcionales (RQF) y no funcionales (RQNF) para MIRA . regla estricta: cada afirmacion en la columna fuente tiene que llevar la cita exacta del doc . si las fuentes se contradicen usa la resolucion qu tomamos en las decisiones."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460095"/>
            <a:ext cx="3035808" cy="0"/>
          </a:xfrm>
          <a:prstGeom prst="line">
            <a:avLst/>
          </a:prstGeom>
          <a:noFill/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822960" y="4462272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r>
              <a:rPr lang="es-CL" sz="1200" dirty="0"/>
              <a:t>Descubrimos que el umbral "85" no era una decisión del negocio, sino un dato de demostración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1737360"/>
            <a:ext cx="3584448" cy="393192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562856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456285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651760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Planificar y ejecutar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3273551"/>
            <a:ext cx="3035808" cy="1205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dirty="0"/>
              <a:t>"vamos a hacer el modelo de dominio conceptual para MIRA. NO generes </a:t>
            </a:r>
            <a:r>
              <a:rPr lang="es-CL" sz="1100" dirty="0" err="1"/>
              <a:t>codigo</a:t>
            </a:r>
            <a:r>
              <a:rPr lang="es-CL" sz="1100" dirty="0"/>
              <a:t> </a:t>
            </a:r>
            <a:r>
              <a:rPr lang="es-CL" sz="1100" dirty="0" err="1"/>
              <a:t>mermaid</a:t>
            </a:r>
            <a:r>
              <a:rPr lang="es-CL" sz="1100" dirty="0"/>
              <a:t> ni dibujes relaciones </a:t>
            </a:r>
            <a:r>
              <a:rPr lang="es-CL" sz="1100" dirty="0" err="1"/>
              <a:t>todavia</a:t>
            </a:r>
            <a:r>
              <a:rPr lang="es-CL" sz="1100" dirty="0"/>
              <a:t> . paso 1 (plan): enumera solo los conceptos del negocio (glosario). tienes estrictamente prohibido usar tipos de datos </a:t>
            </a:r>
            <a:r>
              <a:rPr lang="es-CL" sz="1100" dirty="0" err="1"/>
              <a:t>tecnicos</a:t>
            </a:r>
            <a:r>
              <a:rPr lang="es-CL" sz="1100" dirty="0"/>
              <a:t> </a:t>
            </a:r>
            <a:r>
              <a:rPr lang="es-CL" sz="1100" dirty="0" err="1"/>
              <a:t>asegurate</a:t>
            </a:r>
            <a:r>
              <a:rPr lang="es-CL" sz="1100" dirty="0"/>
              <a:t> de incluir entidades como modulo, señal y umbral. paso 2 (</a:t>
            </a:r>
            <a:r>
              <a:rPr lang="es-CL" sz="1100" dirty="0" err="1"/>
              <a:t>ejecucion</a:t>
            </a:r>
            <a:r>
              <a:rPr lang="es-CL" sz="1100" dirty="0"/>
              <a:t>): solo cuando yo te apruebe el glosario generamos el </a:t>
            </a:r>
            <a:r>
              <a:rPr lang="es-CL" sz="1100" dirty="0" err="1"/>
              <a:t>codigo</a:t>
            </a:r>
            <a:r>
              <a:rPr lang="es-CL" sz="1100" dirty="0"/>
              <a:t> . devuelve solo el resultado del paso 1"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62856" y="4343400"/>
            <a:ext cx="3035808" cy="0"/>
          </a:xfrm>
          <a:prstGeom prst="line">
            <a:avLst/>
          </a:prstGeom>
          <a:noFill/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4562856" y="4462272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Evitó que mezclara el negocio con tipos de datos técnicos de base de datos.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28432" y="1737360"/>
            <a:ext cx="3584448" cy="393192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8302752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830275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651760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Salida estructurada</a:t>
            </a:r>
            <a:endParaRPr lang="en-US" sz="165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3273552"/>
            <a:ext cx="3096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050" dirty="0"/>
              <a:t>"convierte los requisitos en el backlog de producto. no escribas </a:t>
            </a:r>
            <a:r>
              <a:rPr lang="es-CL" sz="1050" dirty="0" err="1"/>
              <a:t>parrafos</a:t>
            </a:r>
            <a:r>
              <a:rPr lang="es-CL" sz="1050" dirty="0"/>
              <a:t> ni texto libre . devuelve exclusivamente una tabla usando este esquema exacto de columnas: | ID | historia | requisitos | estima | </a:t>
            </a:r>
            <a:r>
              <a:rPr lang="es-CL" sz="1050" dirty="0" err="1"/>
              <a:t>priorida</a:t>
            </a:r>
            <a:r>
              <a:rPr lang="es-CL" sz="1050" dirty="0"/>
              <a:t> | sigue estrictamente esta plantilla de ejemplo (HU-018): | HU-018 | Como </a:t>
            </a:r>
            <a:r>
              <a:rPr lang="es-CL" sz="1050" dirty="0" err="1"/>
              <a:t>tecnico</a:t>
            </a:r>
            <a:r>
              <a:rPr lang="es-CL" sz="1050" dirty="0"/>
              <a:t> en terreno, quiero declarar los repuestos | RQF-014 | 8 | Must | . si </a:t>
            </a:r>
            <a:r>
              <a:rPr lang="es-CL" sz="1050" dirty="0" err="1"/>
              <a:t>algun</a:t>
            </a:r>
            <a:r>
              <a:rPr lang="es-CL" sz="1050" dirty="0"/>
              <a:t> dato falta no lo inventes </a:t>
            </a:r>
            <a:r>
              <a:rPr lang="es-CL" sz="1050" dirty="0" err="1"/>
              <a:t>porfavor</a:t>
            </a:r>
            <a:r>
              <a:rPr lang="es-CL" sz="1050" dirty="0"/>
              <a:t> se estricto"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02752" y="4343400"/>
            <a:ext cx="3035808" cy="0"/>
          </a:xfrm>
          <a:prstGeom prst="line">
            <a:avLst/>
          </a:prstGeom>
          <a:noFill/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8302752" y="4462272"/>
            <a:ext cx="3035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Evitó que rellenara huecos con texto que suena bien pero no dice nada, o que inventara datos que faltaban.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PROMPTING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le hablamos a la IA (2 de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 en cadena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400" dirty="0"/>
              <a:t>"revisa la tabla de pruebas funcionales que acabas de generar. NO la modifiques </a:t>
            </a:r>
            <a:r>
              <a:rPr lang="es-CL" sz="1400" dirty="0" err="1"/>
              <a:t>todavia</a:t>
            </a:r>
            <a:r>
              <a:rPr lang="es-CL" sz="1400" dirty="0"/>
              <a:t> . responde </a:t>
            </a:r>
            <a:r>
              <a:rPr lang="es-CL" sz="1400" dirty="0" err="1"/>
              <a:t>unicamente</a:t>
            </a:r>
            <a:r>
              <a:rPr lang="es-CL" sz="1400" dirty="0"/>
              <a:t> a esta pregunta de </a:t>
            </a:r>
            <a:r>
              <a:rPr lang="es-CL" sz="1400" dirty="0" err="1"/>
              <a:t>verificacion</a:t>
            </a:r>
            <a:r>
              <a:rPr lang="es-CL" sz="1400" dirty="0"/>
              <a:t> aislada: este set de pruebas tiene cubierto al menos un flujo alternativo o de </a:t>
            </a:r>
            <a:r>
              <a:rPr lang="es-CL" sz="1400" dirty="0" err="1"/>
              <a:t>excepcion</a:t>
            </a:r>
            <a:r>
              <a:rPr lang="es-CL" sz="1400" dirty="0"/>
              <a:t> para el CU-01 y el CU-03?"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462272"/>
            <a:ext cx="4754880" cy="0"/>
          </a:xfrm>
          <a:prstGeom prst="line">
            <a:avLst/>
          </a:prstGeom>
          <a:noFill/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868680" y="45902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r>
              <a:rPr lang="es-CL" sz="1400" dirty="0"/>
              <a:t>Reveló la falta de pruebas para flujos de error, permitiendo agregar el documento ilegible y flujos inactivos.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565392" y="2057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565392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jueza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333756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200" dirty="0"/>
              <a:t>"</a:t>
            </a:r>
            <a:r>
              <a:rPr lang="es-CL" sz="1200" dirty="0" err="1"/>
              <a:t>actua</a:t>
            </a:r>
            <a:r>
              <a:rPr lang="es-CL" sz="1200" dirty="0"/>
              <a:t> como auditor de asegurador de calidad. </a:t>
            </a:r>
            <a:r>
              <a:rPr lang="es-CL" sz="1200" dirty="0" err="1"/>
              <a:t>evalua</a:t>
            </a:r>
            <a:r>
              <a:rPr lang="es-CL" sz="1200" dirty="0"/>
              <a:t> el criterio de </a:t>
            </a:r>
            <a:r>
              <a:rPr lang="es-CL" sz="1200" dirty="0" err="1"/>
              <a:t>aceptacion</a:t>
            </a:r>
            <a:r>
              <a:rPr lang="es-CL" sz="1200" dirty="0"/>
              <a:t> propuesto inicialmente para la historia de usuario que </a:t>
            </a:r>
            <a:r>
              <a:rPr lang="es-CL" sz="1200" dirty="0" err="1"/>
              <a:t>decia</a:t>
            </a:r>
            <a:r>
              <a:rPr lang="es-CL" sz="1200" dirty="0"/>
              <a:t>: 'La interfaz debe ser rápida y fácil de usar' . evaluarlo contra esta rubrica : - C1: el requisito es verificable y medible objetivamente? (cumple/no cumple) - C2: evita el uso de sesgos o adjetivos vagos? (cumple/no cumple). detalla cada incumplimiento . no des </a:t>
            </a:r>
            <a:r>
              <a:rPr lang="es-CL" sz="1200" dirty="0" err="1"/>
              <a:t>calificacion</a:t>
            </a:r>
            <a:r>
              <a:rPr lang="es-CL" sz="1200" dirty="0"/>
              <a:t> global"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4462272"/>
            <a:ext cx="4754880" cy="0"/>
          </a:xfrm>
          <a:prstGeom prst="line">
            <a:avLst/>
          </a:prstGeom>
          <a:noFill/>
          <a:ln w="12700">
            <a:solidFill>
              <a:srgbClr val="D6E4E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6565392" y="45902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r>
              <a:rPr lang="es-CL" sz="1400" dirty="0"/>
              <a:t>Marcó el criterio original como "no medible", forzándonos a reemplazarlo por una métrica concreta y verificable.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RESUELTAS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ejemplos, con su decisión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0299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cobra?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4436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documento y las propias personas entrevistadas no se ponían de acuerdo en si se cobra un caso que termina en manos de una persona.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425196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0F4C5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1051560" y="4361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617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cobra cuando la máquina resuelve el caso completamente sola.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45352" y="17373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E4E7"/>
            </a:solidFill>
            <a:prstDash val="solid"/>
          </a:ln>
          <a:effectLst>
            <a:outerShdw blurRad="101600" dist="25400" dir="5400000" algn="bl" rotWithShape="0">
              <a:srgbClr val="1B243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6565392" y="20299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Rechazo automático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651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94436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documento permitía rechazar una solicitud sin que nadie la revisara. La normativa de protección de datos no lo permite.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65392" y="425196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0F4C5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748272" y="4361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748272" y="4617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rechaza un caso sin que una persona lo confirme.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DC6AB3F-48DE-0AC1-64FD-6392122C9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8525"/>
            <a:ext cx="12170002" cy="6935049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CB3B7258-0D2F-3CF8-B920-94C89CF4A598}"/>
              </a:ext>
            </a:extLst>
          </p:cNvPr>
          <p:cNvSpPr/>
          <p:nvPr/>
        </p:nvSpPr>
        <p:spPr>
          <a:xfrm>
            <a:off x="3396343" y="2412274"/>
            <a:ext cx="7923929" cy="612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8F643F9-BA9F-5BF9-7C94-2075438B2B2E}"/>
              </a:ext>
            </a:extLst>
          </p:cNvPr>
          <p:cNvSpPr/>
          <p:nvPr/>
        </p:nvSpPr>
        <p:spPr>
          <a:xfrm>
            <a:off x="3246120" y="3208237"/>
            <a:ext cx="7923929" cy="612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784B1E7-E790-6B37-2158-F27F06100C1C}"/>
              </a:ext>
            </a:extLst>
          </p:cNvPr>
          <p:cNvSpPr/>
          <p:nvPr/>
        </p:nvSpPr>
        <p:spPr>
          <a:xfrm>
            <a:off x="3396343" y="3896444"/>
            <a:ext cx="7923929" cy="6124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46D3A74-9A87-F81C-FDC7-B390D266C265}"/>
              </a:ext>
            </a:extLst>
          </p:cNvPr>
          <p:cNvSpPr txBox="1"/>
          <p:nvPr/>
        </p:nvSpPr>
        <p:spPr>
          <a:xfrm>
            <a:off x="3084141" y="2436569"/>
            <a:ext cx="31794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dirty="0"/>
              <a:t>El equipo comercial asume que se deben cobrar los casos que la máquina envía a revisión humana, pero Finanzas dice que no. ¿Qué se factura realmente?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60773718-2015-DED6-DA0F-2AA208C03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782" y="1937077"/>
            <a:ext cx="2543530" cy="352474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CE5C842F-D632-684E-9A0B-E2FD7D124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418" y="1921134"/>
            <a:ext cx="2543530" cy="352474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1B104908-53CD-CD25-2402-70C6ADE1961C}"/>
              </a:ext>
            </a:extLst>
          </p:cNvPr>
          <p:cNvSpPr txBox="1"/>
          <p:nvPr/>
        </p:nvSpPr>
        <p:spPr>
          <a:xfrm>
            <a:off x="6315456" y="2457513"/>
            <a:ext cx="30471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/>
              <a:t>Solo pagaremos por las decisiones que la máquina tome sola. Si mi gente tiene que hacer el trabajo manual igual, no vamos a pagar esa validación.</a:t>
            </a:r>
            <a:endParaRPr lang="es-CL" sz="10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FFE6B87-5798-2D25-3684-FC5802F1591E}"/>
              </a:ext>
            </a:extLst>
          </p:cNvPr>
          <p:cNvSpPr txBox="1"/>
          <p:nvPr/>
        </p:nvSpPr>
        <p:spPr>
          <a:xfrm>
            <a:off x="9341815" y="2397654"/>
            <a:ext cx="2392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/>
              <a:t>Solo se cobra comercialmente la resolución automática concluyente; los casos derivados a revisión no se cobran.</a:t>
            </a:r>
            <a:endParaRPr lang="es-CL" sz="10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62A5240-127F-F7EA-48E9-2424D4A109A2}"/>
              </a:ext>
            </a:extLst>
          </p:cNvPr>
          <p:cNvSpPr txBox="1"/>
          <p:nvPr/>
        </p:nvSpPr>
        <p:spPr>
          <a:xfrm>
            <a:off x="3129329" y="3167381"/>
            <a:ext cx="2392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dirty="0"/>
              <a:t>El documento original dice que MIRA puede rechazar solicitudes por sí sola si el puntaje es bajo, pero Cumplimiento advierte que es ilegal. ¿Qué hacemos? 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0FE6D41-695D-FD9C-74EB-D8F239A47C2C}"/>
              </a:ext>
            </a:extLst>
          </p:cNvPr>
          <p:cNvSpPr txBox="1"/>
          <p:nvPr/>
        </p:nvSpPr>
        <p:spPr>
          <a:xfrm>
            <a:off x="6279315" y="3110389"/>
            <a:ext cx="26456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dirty="0"/>
              <a:t>"Por ley de protección de datos, ningún sistema puede rechazar un reembolso de forma 100% automática. Tiene que mandarlo con alerta roja a un liquidador para que él firme el rechazo." 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69B7474-A71C-8F6A-5035-8270BBF58B69}"/>
              </a:ext>
            </a:extLst>
          </p:cNvPr>
          <p:cNvSpPr txBox="1"/>
          <p:nvPr/>
        </p:nvSpPr>
        <p:spPr>
          <a:xfrm>
            <a:off x="9400032" y="3133694"/>
            <a:ext cx="20900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dirty="0"/>
              <a:t>La plataforma nunca emite rechazos automáticos; todo caso bajo el umbral se deriva obligatoriamente a revisión humana. 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20DDCE05-360C-3027-E3C5-54FBAE795D6F}"/>
              </a:ext>
            </a:extLst>
          </p:cNvPr>
          <p:cNvSpPr txBox="1"/>
          <p:nvPr/>
        </p:nvSpPr>
        <p:spPr>
          <a:xfrm>
            <a:off x="3129329" y="3963344"/>
            <a:ext cx="30484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dirty="0"/>
              <a:t>El diseño de MIRA asume una conexión web moderna (API), pero su sistema central tiene 22 años y usa carpetas compartidas. ¿Van a modernizar su sistema? 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D8CDC94-1E57-DBAE-4BCE-37C893B3EC04}"/>
              </a:ext>
            </a:extLst>
          </p:cNvPr>
          <p:cNvSpPr txBox="1"/>
          <p:nvPr/>
        </p:nvSpPr>
        <p:spPr>
          <a:xfrm>
            <a:off x="6279315" y="3854970"/>
            <a:ext cx="28504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dirty="0"/>
              <a:t>"No vamos a rehacer nuestro sistema antiguo. MIRA tiene que incluir un conector especial que revise esa carpeta compartida y mueva los archivos de forma automática."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33CE276-445C-4B16-B160-355245654AD2}"/>
              </a:ext>
            </a:extLst>
          </p:cNvPr>
          <p:cNvSpPr txBox="1"/>
          <p:nvPr/>
        </p:nvSpPr>
        <p:spPr>
          <a:xfrm>
            <a:off x="9400032" y="4005428"/>
            <a:ext cx="2474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000" dirty="0"/>
              <a:t>Se desarrollará un componente adaptador (conector) específico para gestionar la lectura y escritura en la carpeta compartida del cliente. 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DDFC89D3-2C99-458A-D321-4CF7B98C7FA6}"/>
              </a:ext>
            </a:extLst>
          </p:cNvPr>
          <p:cNvSpPr txBox="1"/>
          <p:nvPr/>
        </p:nvSpPr>
        <p:spPr>
          <a:xfrm>
            <a:off x="3396343" y="1888852"/>
            <a:ext cx="2046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Pregunta al cliente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4EF541A-E9D4-B9CD-BE6D-682AE2A356E0}"/>
              </a:ext>
            </a:extLst>
          </p:cNvPr>
          <p:cNvSpPr txBox="1"/>
          <p:nvPr/>
        </p:nvSpPr>
        <p:spPr>
          <a:xfrm>
            <a:off x="6339065" y="1851789"/>
            <a:ext cx="2203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800" dirty="0">
                <a:solidFill>
                  <a:schemeClr val="bg1"/>
                </a:solidFill>
              </a:rPr>
              <a:t>Respuesta del cliente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CC90C64-E176-3C52-7F1E-86B32526BDDC}"/>
              </a:ext>
            </a:extLst>
          </p:cNvPr>
          <p:cNvSpPr txBox="1"/>
          <p:nvPr/>
        </p:nvSpPr>
        <p:spPr>
          <a:xfrm>
            <a:off x="9320026" y="1870511"/>
            <a:ext cx="2226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800" dirty="0">
                <a:solidFill>
                  <a:schemeClr val="bg1"/>
                </a:solidFill>
              </a:rPr>
              <a:t>Decisión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RESUELTAS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Otras 9 inconsistencias detectadas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se resolvió con el representante del cliente y quedó registrada en una bitácora de decisiones, con su fuente y su justificación.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84448" cy="868680"/>
          </a:xfrm>
          <a:prstGeom prst="roundRect">
            <a:avLst>
              <a:gd name="adj" fmla="val 8421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713232" y="28026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932688" y="2496312"/>
            <a:ext cx="3035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Tramos de precio que no calzan con el volumen real del cliente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2423160"/>
            <a:ext cx="3584448" cy="868680"/>
          </a:xfrm>
          <a:prstGeom prst="roundRect">
            <a:avLst>
              <a:gd name="adj" fmla="val 8421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453128" y="28026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4672584" y="2496312"/>
            <a:ext cx="3035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tiempo se debe guardar la evidencia de un caso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28432" y="2423160"/>
            <a:ext cx="3584448" cy="868680"/>
          </a:xfrm>
          <a:prstGeom prst="roundRect">
            <a:avLst>
              <a:gd name="adj" fmla="val 8421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8193024" y="28026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8412480" y="2496312"/>
            <a:ext cx="3035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datos personales vs. mantener un registro inalterable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3584448" cy="868680"/>
          </a:xfrm>
          <a:prstGeom prst="roundRect">
            <a:avLst>
              <a:gd name="adj" fmla="val 8421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713232" y="38359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932688" y="3529584"/>
            <a:ext cx="3035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viven los datos del cliente (Chile vs. modelos en el extranjero)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88536" y="3456432"/>
            <a:ext cx="3584448" cy="868680"/>
          </a:xfrm>
          <a:prstGeom prst="roundRect">
            <a:avLst>
              <a:gd name="adj" fmla="val 8421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453128" y="38359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4672584" y="3529584"/>
            <a:ext cx="3035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procesamiento poco realistas para casos pesados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28432" y="3456432"/>
            <a:ext cx="3584448" cy="868680"/>
          </a:xfrm>
          <a:prstGeom prst="roundRect">
            <a:avLst>
              <a:gd name="adj" fmla="val 8421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193024" y="38359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8412480" y="3529584"/>
            <a:ext cx="3035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integrarse con el sistema antiguo del cliente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489704"/>
            <a:ext cx="3584448" cy="868680"/>
          </a:xfrm>
          <a:prstGeom prst="roundRect">
            <a:avLst>
              <a:gd name="adj" fmla="val 8421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713232" y="48691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932688" y="4562856"/>
            <a:ext cx="3035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propio de MIRA vs. corporativo del cliente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88536" y="4489704"/>
            <a:ext cx="3584448" cy="868680"/>
          </a:xfrm>
          <a:prstGeom prst="roundRect">
            <a:avLst>
              <a:gd name="adj" fmla="val 8421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453128" y="48691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 txBox="1"/>
          <p:nvPr/>
        </p:nvSpPr>
        <p:spPr>
          <a:xfrm>
            <a:off x="4672584" y="4562856"/>
            <a:ext cx="3035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comprometidas al cliente vs. el plan real de desarrollo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28432" y="4489704"/>
            <a:ext cx="3584448" cy="868680"/>
          </a:xfrm>
          <a:prstGeom prst="roundRect">
            <a:avLst>
              <a:gd name="adj" fmla="val 8421"/>
            </a:avLst>
          </a:prstGeom>
          <a:solidFill>
            <a:srgbClr val="EAF2F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193024" y="48691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8412480" y="4562856"/>
            <a:ext cx="30358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exacto del umbral de aprobación automática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— Análisis de requisitos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32C4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22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deja este análisis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288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acelera mucho lo repetitivo — tablas, comparaciones, borradores — pero puede sonar completamente segura estando equivocada.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80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difícil de ver fue interno: la propia bitácora de decisiones que generó la IA tenía sus referencias corridas — bien escrita, pero mal alineada.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319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representante del cliente resolviendo estos puntos, MIRA se habría construido cobrando mal, con un rechazo automático prohibido por ley y con un umbral sin dueño real.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Pendiente: validar formalmente con el área legal y de tecnología del cliente piloto la retención de evidencia y la integración con su sistema actual.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91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2250</Words>
  <Application>Microsoft Office PowerPoint</Application>
  <PresentationFormat>Panorámica</PresentationFormat>
  <Paragraphs>243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Dante Chavez</cp:lastModifiedBy>
  <cp:revision>6</cp:revision>
  <dcterms:created xsi:type="dcterms:W3CDTF">2026-09-07T04:02:18Z</dcterms:created>
  <dcterms:modified xsi:type="dcterms:W3CDTF">2026-09-07T16:58:00Z</dcterms:modified>
</cp:coreProperties>
</file>